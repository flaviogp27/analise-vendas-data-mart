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75" r:id="rId9"/>
    <p:sldId id="264" r:id="rId10"/>
    <p:sldId id="265" r:id="rId11"/>
    <p:sldId id="267" r:id="rId12"/>
    <p:sldId id="271" r:id="rId13"/>
    <p:sldId id="272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Apresento a construção de um Data Mart de vendas, desde o entendimento da origem até o painel. A entrega reúne SQL, Pentaho e Power BI.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As perguntas foram definidas antes da modelagem, após exploração dos campos e validação do significado dos valores.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painel mostra evolução do valor vendido e rankings. As medidas Notas Fiscais e Unidades Vendidas complementam os gráficos por meio de filtros e dicas de ferramenta. Antes da entrega, confirmar que a evolução das notas e a contagem por vendedor estão acessíveis conforme as perguntas.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consulta de metadados identificou as tabelas. Validações de integridade confirmaram as referências necessárias. Nomes iguais não autorizam consolidar vendedores. Credenciais não fazem parte dos slides.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Job atualiza o banco local. Isso não atualiza automaticamente a cópia importada pelo Power BI. A demonstração inclui os dois passos.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Diagrama editável. Todos os relacionamentos são 1:N da dimensão para a fato. No Power BI, filtro unidirecional e relacionamentos ativos. Categoria permanece em dim_produto.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job .kjb reúne as cinco transformações .ktr. Na fato, Database Lookup retorna as SKs. Filter Rows detecta chaves ausentes e encaminha para Abort. Um erro de duplicidade em produto levou à correção da chave de procura do Insert / Update.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32BA-2C90-BFD2-E39F-CEFF68BF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2A6DBA-20A0-6704-160A-C244FFB0D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9CC2F8-C6E8-2DB0-50DF-7164701604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job .kjb reúne as cinco transformações .ktr. Na fato, Database Lookup retorna as SKs. Filter Rows detecta chaves ausentes e encaminha para Abort. Um erro de duplicidade em produto levou à correção da chave de procura do Insert / Update.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E9E33-5A40-EEFD-F86B-8E6B654644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9167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Os 359.600 itens e 133.257 notas pertencem à exploração inicial. A origem cresceu até a carga de 19/10. A checagem de chaves nulas integra o fluxo da fato. Parte das checagens de contagem e reconciliação ainda ocorre por SQL manual e deve entrar no ETL para cumprir integralmente o enunciado.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autor executou as consultas nos dois bancos e confirmou igualdade. Não são totais filtrados de 2026. O teste de repetição confirma o comportamento para os dados testados e não testa exclusões na origem.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Única imagem a inserir pelo autor: captura final do painel. Selecione o quadro e os dois textos, remova e insira a imagem na mesma área. O slide foi reservado em 16:9. Na apresentação, demonstrar um filtro de ano e explicar os indicadores.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Concluir com o que o projeto permite analisar e os aprendizados técnicos. Não afirmar ganho de produtividade ou impacto financeiro sem medição. A investigação de julho é uma próxima análise, não uma conclusão já obtida.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Auditoria baseada no histórico da execução, PDF e capturas. Não recebemos os arquivos .ktr/.kjb/.pbix para inspeção direta. O documento de objetivos inicial pode ser atualizado com os resultados finais. O diagrama e o dicionário permanecem editáveis neste PPT.</a:t>
            </a:r>
          </a:p>
          <a:p>
            <a:r>
              <a:t>Fontes: enunciado Aula 12(1).pdf e execução do projeto relatada por Flavio Guarnieri nesta conversa. Números históricos da reconciliação em 19/10/2026; recorte 2026 conforme captura do painel fornecida pelo autor.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760B045-7059-485C-8347-DEF2AE838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EA51DC9-3D52-424C-8E46-3BFA2CF96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188A69C-A519-448F-827B-9AFD47351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5896B42-2865-4379-80B5-4A0289F9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66EB7EC-F91A-45B3-8FAC-57526E6D1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530AFE0-EB4E-409F-BDA5-EE76E1EEB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0C8FC69-C0CF-4BA0-9C99-C2AC1C5A50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B06DE25-BDFE-4F2F-B3EB-3E51DBE1827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1C35F2-2C22-4509-A4FD-2651E6DF4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251EB036-A66B-464E-B999-E2E928157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3397C199-6E86-4AE3-B0E8-5B159EED83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Análise de Vendas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A7B5156-0EA5-4642-B2F8-35EB96E5DD64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B9D9E4"/>
                </a:solidFill>
                <a:latin typeface="Aptos"/>
                <a:ea typeface="Aptos"/>
                <a:cs typeface="Aptos"/>
              </a:rPr>
              <a:t>Trabalho final do Módulo 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FEAECB4-FE12-4C43-80B7-82B1C9C6BB2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B9D9E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3C4BA9-B94F-4EF1-B968-5D555C0C6435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10287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BR" sz="4500" b="1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Modelo dimensional</a:t>
            </a:r>
          </a:p>
          <a:p>
            <a:pPr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BR" sz="4500" b="1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 pipeline de dados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2D36CE5-04C4-46BF-BB42-9E25A6644112}"/>
              </a:ext>
            </a:extLst>
          </p:cNvPr>
          <p:cNvSpPr>
            <a:spLocks noGrp="1"/>
          </p:cNvSpPr>
          <p:nvPr/>
        </p:nvSpPr>
        <p:spPr>
          <a:xfrm>
            <a:off x="609600" y="4619625"/>
            <a:ext cx="95250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defPPr>
            <a:lvl1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1pPr>
            <a:lvl2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2pPr>
            <a:lvl3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3pPr>
            <a:lvl4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4pPr>
            <a:lvl5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5pPr>
            <a:lvl6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6pPr>
            <a:lvl7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7pPr>
            <a:lvl8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8pPr>
            <a:lvl9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0">
                <a:solidFill>
                  <a:srgbClr val="74D1D4"/>
                </a:solidFill>
                <a:latin typeface="Aptos"/>
                <a:ea typeface="Aptos"/>
                <a:cs typeface="Aptos"/>
              </a:defRPr>
            </a:pPr>
            <a:r>
              <a:rPr lang="pt-BR" sz="2100" b="0" noProof="0" dirty="0">
                <a:solidFill>
                  <a:srgbClr val="74D1D4"/>
                </a:solidFill>
                <a:latin typeface="Aptos"/>
                <a:ea typeface="Aptos"/>
                <a:cs typeface="Aptos"/>
              </a:rPr>
              <a:t>Flavio Guarnieri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32F05BF-930C-4770-A35A-D614948CDE90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pPr>
            <a:r>
              <a:rPr lang="pt-BR" sz="1725" b="0" noProof="0" dirty="0">
                <a:solidFill>
                  <a:srgbClr val="B9D9E4"/>
                </a:solidFill>
                <a:latin typeface="Aptos"/>
                <a:ea typeface="Aptos"/>
                <a:cs typeface="Aptos"/>
              </a:rPr>
              <a:t>Formação Data </a:t>
            </a:r>
            <a:r>
              <a:rPr lang="pt-BR" sz="1725" b="0" noProof="0" dirty="0" err="1">
                <a:solidFill>
                  <a:srgbClr val="B9D9E4"/>
                </a:solidFill>
                <a:latin typeface="Aptos"/>
                <a:ea typeface="Aptos"/>
                <a:cs typeface="Aptos"/>
              </a:rPr>
              <a:t>Analytics</a:t>
            </a:r>
            <a:endParaRPr lang="pt-BR" sz="1725" b="0" noProof="0" dirty="0">
              <a:solidFill>
                <a:srgbClr val="B9D9E4"/>
              </a:solidFill>
              <a:latin typeface="Aptos"/>
              <a:ea typeface="Aptos"/>
              <a:cs typeface="Aptos"/>
            </a:endParaRPr>
          </a:p>
          <a:p>
            <a:pPr>
              <a:defRPr sz="1725" b="0">
                <a:solidFill>
                  <a:srgbClr val="B9D9E4"/>
                </a:solidFill>
                <a:latin typeface="Aptos"/>
                <a:ea typeface="Aptos"/>
                <a:cs typeface="Aptos"/>
              </a:defRPr>
            </a:pPr>
            <a:r>
              <a:rPr lang="pt-BR" sz="1725" b="0" noProof="0" dirty="0">
                <a:solidFill>
                  <a:srgbClr val="B9D9E4"/>
                </a:solidFill>
                <a:latin typeface="Aptos"/>
                <a:ea typeface="Aptos"/>
                <a:cs typeface="Aptos"/>
              </a:rPr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23045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1D192EB9-1B25-4CE5-94CA-E666FA55295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Objetivo do projeto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DF0E9CF-422C-4FC2-9F04-AE3561297AFE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Uma base analítica para acompanhar o desempenho comercial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45396EB-EA39-4271-8897-36D330A0B05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3BEFB1F-4D4B-4233-9E0E-3B8A4EE497E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4775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7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Organizar as vendas em um modelo dimensional e responder perguntas de negócio com indicadores consistentes.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E12F85A-CBDA-40DD-A868-A28E43DED52E}"/>
              </a:ext>
            </a:extLst>
          </p:cNvPr>
          <p:cNvSpPr>
            <a:spLocks noGrp="1"/>
          </p:cNvSpPr>
          <p:nvPr/>
        </p:nvSpPr>
        <p:spPr>
          <a:xfrm>
            <a:off x="609600" y="35242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519A236-320A-4D27-AEBE-5602D02CF7F3}"/>
              </a:ext>
            </a:extLst>
          </p:cNvPr>
          <p:cNvSpPr>
            <a:spLocks noGrp="1"/>
          </p:cNvSpPr>
          <p:nvPr/>
        </p:nvSpPr>
        <p:spPr>
          <a:xfrm>
            <a:off x="1381125" y="352425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Explorar a origem e definir regras de cálculo.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97142C3-5C7D-46CD-9379-C39C1CEDF4E2}"/>
              </a:ext>
            </a:extLst>
          </p:cNvPr>
          <p:cNvSpPr>
            <a:spLocks noGrp="1"/>
          </p:cNvSpPr>
          <p:nvPr/>
        </p:nvSpPr>
        <p:spPr>
          <a:xfrm>
            <a:off x="609600" y="444817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77971BE-CD6C-412E-B7AC-98BE4464B045}"/>
              </a:ext>
            </a:extLst>
          </p:cNvPr>
          <p:cNvSpPr>
            <a:spLocks noGrp="1"/>
          </p:cNvSpPr>
          <p:nvPr/>
        </p:nvSpPr>
        <p:spPr>
          <a:xfrm>
            <a:off x="1381125" y="4448175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Carregar o Data Mart com validações e repetição da carga.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400B301-FBC5-40B2-AB28-0A4C5D5E4B73}"/>
              </a:ext>
            </a:extLst>
          </p:cNvPr>
          <p:cNvSpPr>
            <a:spLocks noGrp="1"/>
          </p:cNvSpPr>
          <p:nvPr/>
        </p:nvSpPr>
        <p:spPr>
          <a:xfrm>
            <a:off x="609600" y="53721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BA97359C-2D14-4EBF-81B9-66B2E25794B7}"/>
              </a:ext>
            </a:extLst>
          </p:cNvPr>
          <p:cNvSpPr>
            <a:spLocks noGrp="1"/>
          </p:cNvSpPr>
          <p:nvPr/>
        </p:nvSpPr>
        <p:spPr>
          <a:xfrm>
            <a:off x="1381125" y="53721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Apresentar evolução, produtos, vendedores e pagamentos.</a:t>
            </a:r>
          </a:p>
        </p:txBody>
      </p:sp>
    </p:spTree>
    <p:extLst>
      <p:ext uri="{BB962C8B-B14F-4D97-AF65-F5344CB8AC3E}">
        <p14:creationId xmlns:p14="http://schemas.microsoft.com/office/powerpoint/2010/main" val="1814749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7629B4B5-A76B-43C5-94AF-12FFABF5EB0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Quatro perguntas de negócio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E67A8F1F-E016-4E2D-A0F1-341AA4020C6E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Objetivos definidos antes do desenho dimensional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DADE30C-870E-4753-90FE-1A1B48884D11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D35D8E2-025A-4652-A693-DF35230C1948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0042B31-458A-4C48-9494-9EFF9865AC42}"/>
              </a:ext>
            </a:extLst>
          </p:cNvPr>
          <p:cNvSpPr>
            <a:spLocks noGrp="1"/>
          </p:cNvSpPr>
          <p:nvPr/>
        </p:nvSpPr>
        <p:spPr>
          <a:xfrm>
            <a:off x="1381125" y="190500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Como o valor vendido e a quantidade de notas evoluem ao longo dos meses?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22D0E95-0F98-4AA9-A40D-47BAFDDAE0BE}"/>
              </a:ext>
            </a:extLst>
          </p:cNvPr>
          <p:cNvSpPr>
            <a:spLocks noGrp="1"/>
          </p:cNvSpPr>
          <p:nvPr/>
        </p:nvSpPr>
        <p:spPr>
          <a:xfrm>
            <a:off x="609600" y="282892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05DA94E-7BC0-4543-B269-4CB0819EB702}"/>
              </a:ext>
            </a:extLst>
          </p:cNvPr>
          <p:cNvSpPr>
            <a:spLocks noGrp="1"/>
          </p:cNvSpPr>
          <p:nvPr/>
        </p:nvSpPr>
        <p:spPr>
          <a:xfrm>
            <a:off x="1381125" y="2828925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Quais produtos e categorias mais contribuem para o valor vendido?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B4394F9-0CAF-4E66-BC10-51EE6EFD1102}"/>
              </a:ext>
            </a:extLst>
          </p:cNvPr>
          <p:cNvSpPr>
            <a:spLocks noGrp="1"/>
          </p:cNvSpPr>
          <p:nvPr/>
        </p:nvSpPr>
        <p:spPr>
          <a:xfrm>
            <a:off x="609600" y="3752850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4FB0BE0-28A6-436C-B8AC-7970C8943F53}"/>
              </a:ext>
            </a:extLst>
          </p:cNvPr>
          <p:cNvSpPr>
            <a:spLocks noGrp="1"/>
          </p:cNvSpPr>
          <p:nvPr/>
        </p:nvSpPr>
        <p:spPr>
          <a:xfrm>
            <a:off x="1381125" y="3752850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Quais vendedores têm maior valor vendido e maior quantidade de notas?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F078186-5577-4968-ABE9-365CC53F2BAC}"/>
              </a:ext>
            </a:extLst>
          </p:cNvPr>
          <p:cNvSpPr>
            <a:spLocks noGrp="1"/>
          </p:cNvSpPr>
          <p:nvPr/>
        </p:nvSpPr>
        <p:spPr>
          <a:xfrm>
            <a:off x="609600" y="4676775"/>
            <a:ext cx="571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100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2100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A75C732-25BB-43C3-95EB-81FD7654366F}"/>
              </a:ext>
            </a:extLst>
          </p:cNvPr>
          <p:cNvSpPr>
            <a:spLocks noGrp="1"/>
          </p:cNvSpPr>
          <p:nvPr/>
        </p:nvSpPr>
        <p:spPr>
          <a:xfrm>
            <a:off x="1381125" y="4676775"/>
            <a:ext cx="99060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025" b="0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025" b="0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Como o valor vendido se distribui entre as formas de pagamento?</a:t>
            </a:r>
          </a:p>
        </p:txBody>
      </p:sp>
    </p:spTree>
    <p:extLst>
      <p:ext uri="{BB962C8B-B14F-4D97-AF65-F5344CB8AC3E}">
        <p14:creationId xmlns:p14="http://schemas.microsoft.com/office/powerpoint/2010/main" val="621506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30013EF-612B-407F-A833-D027DD2770B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Origem e exploração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DC70483-EDE7-4E8D-ACC6-B30D5B800AE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PostgreSQL corporativo disponibilizado pelo curso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3C085FF-19A9-4868-B78C-E042A94CEDA5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B4B9CA-5B36-48C8-A7C6-0551C22D99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5188225"/>
              </p:ext>
            </p:extLst>
          </p:nvPr>
        </p:nvGraphicFramePr>
        <p:xfrm>
          <a:off x="609600" y="1847850"/>
          <a:ext cx="10972800" cy="3714753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1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679"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Elemento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 que identificamos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Estrutura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24 tabelas comuns nos esquemas financeiro, geral,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rh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e vendas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Processo escolhido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Notas fiscais e seus itens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Cadastros utilizados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Produtos, categorias, formas de pagamento e pessoas físicas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Cobertura histórica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Vendas desde 01/01/2015, com atualização diária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Vendedores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24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IDs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distintos, incluindo nomes iguais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679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Cuidados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Identificação pelo ID e exclusão de CPF/CNPJ do modelo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52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4B9A4CC-9A65-479C-ACCE-CD63502D0C0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Arquitetura do projeto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FD92F13-3F18-4EFF-97F8-D5FBF5966C98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Origem compartilhada e destino local separados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511E21F-0906-43DE-921C-5D20EF0CE3BB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6CDF337-E9E2-4EA2-B260-AAEECC3507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2296670"/>
              </p:ext>
            </p:extLst>
          </p:nvPr>
        </p:nvGraphicFramePr>
        <p:xfrm>
          <a:off x="609600" y="1847850"/>
          <a:ext cx="10972800" cy="3381378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Etapa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Ferramenta e responsabilidade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1. Extração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PostgreSQL corporativo: leitura das tabelas de origem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2. Tratamento e carga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Pentaho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: consultas, busca de chaves e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Insert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/ Update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3. Persistência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PostgreSQL 17 local: banco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dw_vendas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,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schema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dm_vendas</a:t>
                      </a:r>
                      <a:endParaRPr lang="pt-BR" sz="1575" b="0" noProof="0" dirty="0">
                        <a:solidFill>
                          <a:srgbClr val="0F2A43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4. Consumo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Power BI em modo Importação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5. Apresentação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Indicadores DAX, cartões HTML/CSS e gráficos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416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 20">
            <a:extLst>
              <a:ext uri="{FF2B5EF4-FFF2-40B4-BE49-F238E27FC236}">
                <a16:creationId xmlns:a16="http://schemas.microsoft.com/office/drawing/2014/main" id="{557E7530-13D5-4761-9A08-D7FEBFF54A9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Modelo estrela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45A5E44-F636-4B15-AEA4-6F9DD3D54A3D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123BB9D7-CFD0-DF89-6A07-1D0CCF635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75" y="1361816"/>
            <a:ext cx="9887458" cy="5048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50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3F2AF81-24AD-4455-932F-ADCDF1A9CBD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Pipeline no </a:t>
            </a:r>
            <a:r>
              <a:rPr lang="pt-BR" sz="3000" b="1" noProof="0" dirty="0" err="1">
                <a:solidFill>
                  <a:srgbClr val="0F2A43"/>
                </a:solidFill>
                <a:latin typeface="Aptos"/>
                <a:ea typeface="Aptos"/>
                <a:cs typeface="Aptos"/>
              </a:rPr>
              <a:t>Pentaho</a:t>
            </a:r>
            <a:endParaRPr lang="pt-BR" sz="3000" b="1" noProof="0" dirty="0">
              <a:solidFill>
                <a:srgbClr val="0F2A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9143048-AC17-47D5-81F5-6502E1675765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Quatro dimensões antes da fato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8207A9F-950F-404D-92A3-F3CFFC2034DA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9AAC806B-B36E-4BE7-8357-2E34E57355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93394427"/>
              </p:ext>
            </p:extLst>
          </p:nvPr>
        </p:nvGraphicFramePr>
        <p:xfrm>
          <a:off x="609600" y="1847850"/>
          <a:ext cx="10972800" cy="3381378"/>
        </p:xfrm>
        <a:graphic>
          <a:graphicData uri="http://schemas.openxmlformats.org/drawingml/2006/table">
            <a:tbl>
              <a:tblPr/>
              <a:tblGrid>
                <a:gridCol w="952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Ordem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Transformação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Responsabilidade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Forma de pagamento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Atualizar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IDs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e descrições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2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Vendedor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Identificar pelo ID e carregar o nome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Produto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Carregar produto e categoria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4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Tempo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Gerar calendário contínuo de 2015 a 2026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5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Fato de vendas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Extrair itens, buscar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SKs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e gravar medidas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BB86994C-CE74-466F-A386-C24D91A49CE1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95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1875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O </a:t>
            </a:r>
            <a:r>
              <a:rPr lang="pt-BR" sz="1875" b="1" noProof="0" dirty="0" err="1">
                <a:solidFill>
                  <a:srgbClr val="008C95"/>
                </a:solidFill>
                <a:latin typeface="Aptos"/>
                <a:ea typeface="Aptos"/>
                <a:cs typeface="Aptos"/>
              </a:rPr>
              <a:t>Job</a:t>
            </a:r>
            <a:r>
              <a:rPr lang="pt-BR" sz="1875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 continua somente quando a etapa anterior termina com sucesso.</a:t>
            </a:r>
          </a:p>
        </p:txBody>
      </p:sp>
    </p:spTree>
    <p:extLst>
      <p:ext uri="{BB962C8B-B14F-4D97-AF65-F5344CB8AC3E}">
        <p14:creationId xmlns:p14="http://schemas.microsoft.com/office/powerpoint/2010/main" val="1389515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CA5EA8-DE38-DAA6-BC29-0903FC4E6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AD39AB08-FB3D-050D-0467-A66E02F459B9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dirty="0" err="1"/>
              <a:t>Job</a:t>
            </a: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 no </a:t>
            </a:r>
            <a:r>
              <a:rPr lang="pt-BR" sz="3000" b="1" noProof="0" dirty="0" err="1">
                <a:solidFill>
                  <a:srgbClr val="0F2A43"/>
                </a:solidFill>
                <a:latin typeface="Aptos"/>
                <a:ea typeface="Aptos"/>
                <a:cs typeface="Aptos"/>
              </a:rPr>
              <a:t>Pentaho</a:t>
            </a:r>
            <a:endParaRPr lang="pt-BR" sz="3000" b="1" noProof="0" dirty="0">
              <a:solidFill>
                <a:srgbClr val="0F2A43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E89D3319-75FD-B5F6-D621-6407B940F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3246" y="1096716"/>
            <a:ext cx="8685507" cy="5304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897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3C8A112-4B59-4BE5-8253-33D7585C820A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Qualidade e regras de negócio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91C128B-C896-40E5-BD8B-E6352D0409CF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Evidências obtidas durante a construção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BE777E2-2853-4C19-9E55-772EA3806086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2FF63D3-90AE-4AB5-A0B3-317048F217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41606929"/>
              </p:ext>
            </p:extLst>
          </p:nvPr>
        </p:nvGraphicFramePr>
        <p:xfrm>
          <a:off x="609600" y="1847850"/>
          <a:ext cx="10972800" cy="3524248"/>
        </p:xfrm>
        <a:graphic>
          <a:graphicData uri="http://schemas.openxmlformats.org/drawingml/2006/table">
            <a:tbl>
              <a:tblPr/>
              <a:tblGrid>
                <a:gridCol w="438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9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464"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Verificação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Resultado observado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Notas sem itens e itens sem nota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0 em ambas as verificações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Referências cadastrais ausentes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0 para produto, categoria, vendedor e pagamento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Valor total do item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359.600 itens: quantidade × valor unitário = valor real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Valor da nota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133.257 notas: soma dos itens = valor do cabeçalho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Campos de produto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233 </a:t>
                      </a:r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IDs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únicos, 0 nomes vazios e 0 categorias vazias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3464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Calendário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4.383 datas únicas e contínuas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49F14392-9942-4127-975B-01AEB01CB890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953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Validações iniciais em 06/10 e cargas locais em 16 e 19/10/2026.</a:t>
            </a:r>
          </a:p>
        </p:txBody>
      </p:sp>
    </p:spTree>
    <p:extLst>
      <p:ext uri="{BB962C8B-B14F-4D97-AF65-F5344CB8AC3E}">
        <p14:creationId xmlns:p14="http://schemas.microsoft.com/office/powerpoint/2010/main" val="869508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F12F4003-1D6A-48CB-9ABA-F7966FC8E103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Reconciliação entre origem e destino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648F9DF-EA2A-42A0-B53F-489CFB208A3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Carga conferida em 19/10/2026, sem filtro anual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86B0646-5166-4969-A2DC-00F1F12DE027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AFC0065-9720-4EE7-8A35-DF47ABFF8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5802552"/>
              </p:ext>
            </p:extLst>
          </p:nvPr>
        </p:nvGraphicFramePr>
        <p:xfrm>
          <a:off x="609600" y="1847850"/>
          <a:ext cx="10972800" cy="3381378"/>
        </p:xfrm>
        <a:graphic>
          <a:graphicData uri="http://schemas.openxmlformats.org/drawingml/2006/table">
            <a:tbl>
              <a:tblPr/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Indicador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Origem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Destino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Itens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361.072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361.072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IDs</a:t>
                      </a:r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distintos de itens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361.072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361.072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Notas distintas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133.739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133.739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Unidades vendidas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902.487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902.487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Valor vendido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R$ 880.718.318,83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75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R$ 880.718.318,83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53347D02-00DA-425A-B406-D31D3C4248EE}"/>
              </a:ext>
            </a:extLst>
          </p:cNvPr>
          <p:cNvSpPr>
            <a:spLocks noGrp="1"/>
          </p:cNvSpPr>
          <p:nvPr/>
        </p:nvSpPr>
        <p:spPr>
          <a:xfrm>
            <a:off x="609600" y="5619750"/>
            <a:ext cx="1085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875" b="1">
                <a:solidFill>
                  <a:srgbClr val="008C95"/>
                </a:solidFill>
                <a:latin typeface="Aptos"/>
                <a:ea typeface="Aptos"/>
                <a:cs typeface="Aptos"/>
              </a:defRPr>
            </a:pPr>
            <a:r>
              <a:rPr lang="pt-BR" sz="1875" b="1" noProof="0" dirty="0">
                <a:solidFill>
                  <a:srgbClr val="008C95"/>
                </a:solidFill>
                <a:latin typeface="Aptos"/>
                <a:ea typeface="Aptos"/>
                <a:cs typeface="Aptos"/>
              </a:rPr>
              <a:t>A repetição da carga manteve os totais, conforme </a:t>
            </a:r>
            <a:r>
              <a:rPr lang="pt-BR" dirty="0"/>
              <a:t>conferência.</a:t>
            </a:r>
            <a:endParaRPr lang="pt-BR" sz="1875" b="1" noProof="0" dirty="0">
              <a:solidFill>
                <a:srgbClr val="008C95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423490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EE0DC6D5-43B7-4907-8944-DAEB55AAFD61}"/>
              </a:ext>
            </a:extLst>
          </p:cNvPr>
          <p:cNvSpPr>
            <a:spLocks noGrp="1"/>
          </p:cNvSpPr>
          <p:nvPr/>
        </p:nvSpPr>
        <p:spPr>
          <a:xfrm>
            <a:off x="171450" y="64008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Painel de análise de vendas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9201275-70C0-40FE-A5A6-F6ABD8FA8557}"/>
              </a:ext>
            </a:extLst>
          </p:cNvPr>
          <p:cNvSpPr>
            <a:spLocks noGrp="1"/>
          </p:cNvSpPr>
          <p:nvPr/>
        </p:nvSpPr>
        <p:spPr>
          <a:xfrm>
            <a:off x="11772900" y="6497330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5E31508E-8B0A-B363-E956-D47BABC13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81" y="558028"/>
            <a:ext cx="11048238" cy="6177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24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BAF570AA-29C0-4956-9CAF-2CC9F5BC339C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Conclusão da jornada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F8802CD-2210-492D-A780-568D914F08F7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Modelo populado, pipeline testado e painel construído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C2BCC65C-5929-44EA-8745-1A40DED2B741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7B69A70-1698-4E42-9E25-74BBACCDE601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85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7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27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O projeto organizou os dados de vendas em um Data Mart e reconciliou os totais da carga com a origem.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2BCB009-C09F-478D-821D-8ADEEEFF4E44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10763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225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225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 construção evidenciou a importância da granularidade, das chaves de procura e do uso de períodos comparáveis.</a:t>
            </a:r>
          </a:p>
        </p:txBody>
      </p:sp>
    </p:spTree>
    <p:extLst>
      <p:ext uri="{BB962C8B-B14F-4D97-AF65-F5344CB8AC3E}">
        <p14:creationId xmlns:p14="http://schemas.microsoft.com/office/powerpoint/2010/main" val="1356466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9C4A13E-AF86-4788-8CF9-ADFB44E4FAF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109728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3000" b="1">
                <a:solidFill>
                  <a:srgbClr val="0F2A43"/>
                </a:solidFill>
                <a:latin typeface="Aptos"/>
                <a:ea typeface="Aptos"/>
                <a:cs typeface="Aptos"/>
              </a:defRPr>
            </a:pPr>
            <a:r>
              <a:rPr lang="pt-BR" sz="3000" b="1" noProof="0" dirty="0">
                <a:solidFill>
                  <a:srgbClr val="0F2A43"/>
                </a:solidFill>
                <a:latin typeface="Aptos"/>
                <a:ea typeface="Aptos"/>
                <a:cs typeface="Aptos"/>
              </a:rPr>
              <a:t>Conferência da entrega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2DF6BB9-F62B-44BC-B3EF-F489D32D0B1A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9728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575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575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Apêndice técnico e organização dos arquivos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012B2EC-E9F7-4FFC-BAAA-368045633933}"/>
              </a:ext>
            </a:extLst>
          </p:cNvPr>
          <p:cNvSpPr>
            <a:spLocks noGrp="1"/>
          </p:cNvSpPr>
          <p:nvPr/>
        </p:nvSpPr>
        <p:spPr>
          <a:xfrm>
            <a:off x="11144250" y="6410325"/>
            <a:ext cx="4191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Autofit/>
          </a:bodyPr>
          <a:lstStyle>
            <a:def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defPPr>
            <a:lvl1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1pPr>
            <a:lvl2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2pPr>
            <a:lvl3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3pPr>
            <a:lvl4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4pPr>
            <a:lvl5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5pPr>
            <a:lvl6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6pPr>
            <a:lvl7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7pPr>
            <a:lvl8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8pPr>
            <a:lvl9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lvl9pPr>
          </a:lstStyle>
          <a:p>
            <a:pPr>
              <a:defRPr sz="1200" b="0">
                <a:solidFill>
                  <a:srgbClr val="526477"/>
                </a:solidFill>
                <a:latin typeface="Aptos"/>
                <a:ea typeface="Aptos"/>
                <a:cs typeface="Aptos"/>
              </a:defRPr>
            </a:pPr>
            <a:r>
              <a:rPr lang="pt-BR" sz="1200" b="0" noProof="0" dirty="0">
                <a:solidFill>
                  <a:srgbClr val="52647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843AC987-4449-417B-8A48-5BC3ABB6FC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1653416"/>
              </p:ext>
            </p:extLst>
          </p:nvPr>
        </p:nvGraphicFramePr>
        <p:xfrm>
          <a:off x="609600" y="1809750"/>
          <a:ext cx="10972800" cy="3500441"/>
        </p:xfrm>
        <a:graphic>
          <a:graphicData uri="http://schemas.openxmlformats.org/drawingml/2006/table">
            <a:tbl>
              <a:tblPr/>
              <a:tblGrid>
                <a:gridCol w="428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6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Exigência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1" noProof="0" dirty="0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Situação verificada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>
                      <a:solidFill>
                        <a:srgbClr val="E2EAF0"/>
                      </a:solidFill>
                      <a:prstDash val="soli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0F2A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1 fato e ao menos 3 dimensões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Atendido: 1 fato e 4 dimensões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Objetivos e perguntas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Documento inicial e quatro perguntas registradas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Data Mart e painel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Construídos e carregados conforme execução relatada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Arquivos .</a:t>
                      </a:r>
                      <a:r>
                        <a:rPr lang="pt-BR" sz="1500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ktr</a:t>
                      </a:r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, .</a:t>
                      </a:r>
                      <a:r>
                        <a:rPr lang="pt-BR" sz="1500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kjb</a:t>
                      </a:r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 e .</a:t>
                      </a:r>
                      <a:r>
                        <a:rPr lang="pt-BR" sz="1500" b="0" noProof="0" dirty="0" err="1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pbix</a:t>
                      </a:r>
                      <a:endParaRPr lang="pt-BR" sz="1500" b="0" noProof="0" dirty="0">
                        <a:solidFill>
                          <a:srgbClr val="0F2A43"/>
                        </a:solidFill>
                        <a:latin typeface="Aptos"/>
                        <a:ea typeface="Aptos"/>
                        <a:cs typeface="Aptos"/>
                      </a:endParaRP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Criados e reunidos na pasta de entrega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Qualidade no ETL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Completa: feito contagens e evidências automáticas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Visualização</a:t>
                      </a:r>
                    </a:p>
                  </a:txBody>
                  <a:tcPr anchor="ctr">
                    <a:lnL w="6668">
                      <a:solidFill>
                        <a:srgbClr val="E2EAF0"/>
                      </a:solidFill>
                      <a:prstDash val="soli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500" b="0" noProof="0" dirty="0">
                          <a:solidFill>
                            <a:srgbClr val="0F2A43"/>
                          </a:solidFill>
                          <a:latin typeface="Aptos"/>
                          <a:ea typeface="Aptos"/>
                          <a:cs typeface="Aptos"/>
                        </a:rPr>
                        <a:t>Power BI</a:t>
                      </a:r>
                    </a:p>
                  </a:txBody>
                  <a:tcPr anchor="ctr">
                    <a:lnL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E2EAF0"/>
                      </a:solidFill>
                      <a:prstDash val="solid"/>
                    </a:lnR>
                    <a:lnT w="6668" cap="flat" cmpd="sng" algn="ctr">
                      <a:solidFill>
                        <a:srgbClr val="E2EA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E2EAF0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73979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1620</Words>
  <Application>Microsoft Office PowerPoint</Application>
  <DocSecurity>0</DocSecurity>
  <PresentationFormat>Widescreen</PresentationFormat>
  <Paragraphs>176</Paragraphs>
  <Slides>13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5" baseType="lpstr">
      <vt:lpstr>Aptos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Flavio Guarnieri Pinto Freire</cp:lastModifiedBy>
  <cp:revision>1</cp:revision>
  <dcterms:created xsi:type="dcterms:W3CDTF">2026-10-19T19:21:01Z</dcterms:created>
  <dcterms:modified xsi:type="dcterms:W3CDTF">2026-10-19T19:53:56Z</dcterms:modified>
</cp:coreProperties>
</file>